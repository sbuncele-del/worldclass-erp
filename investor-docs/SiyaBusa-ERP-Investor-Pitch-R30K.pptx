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SiyaBusa 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882F6"/>
                </a:solidFill>
              </a:defRPr>
            </a:pPr>
            <a:r>
              <a:t>Enterprise Power. SME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Seeking R30,000 Seed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February 2026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The Painful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333333"/>
                </a:solidFill>
              </a:defRPr>
            </a:pPr>
            <a:r>
              <a:t>"I wake up at 3am worried about my business.</a:t>
            </a:r>
            <a:br/>
            <a:r>
              <a:t>I know I need better systems, but I can't afford SAP.</a:t>
            </a:r>
            <a:br/>
            <a:r>
              <a:t>So I stay stuck with Excel spreadsheets and hope nothing falls through the cracks."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— Every SME owner in South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53E3E"/>
                </a:solidFill>
              </a:defRPr>
            </a:pPr>
            <a:r>
              <a:t>95,000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South African SMEs are STUCK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❌  QuickBooks = Too basic (just accounting, no real ERP)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❌  SAP/Oracle = Too expensive (R50,000+/month)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❌  No middle ground = Businesses suffer in silence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We Built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882F6"/>
                </a:solidFill>
              </a:defRPr>
            </a:pPr>
            <a:r>
              <a:t>SiyaBusa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Full Enterprise ERP at SME Prices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377440" cy="13716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882F6"/>
                </a:solidFill>
              </a:defRPr>
            </a:pPr>
            <a:r>
              <a:t>25+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926080"/>
            <a:ext cx="2377440" cy="13716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882F6"/>
                </a:solidFill>
              </a:defRPr>
            </a:pPr>
            <a:r>
              <a:t>400+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API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926080"/>
            <a:ext cx="2377440" cy="13716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38A169"/>
                </a:solidFill>
              </a:defRPr>
            </a:pPr>
            <a:r>
              <a:t>✅ LIVE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8A169"/>
                </a:solidFill>
              </a:defRPr>
            </a:pPr>
            <a:r>
              <a:t>R1,500/month vs SAP at R50,000+/month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82F6"/>
                </a:solidFill>
              </a:defRPr>
            </a:pPr>
            <a:r>
              <a:t>siyabusaerp.co.za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Complete ERP System — Already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Core Business Modules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Financial Accounting (GL, AP, AR)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Inventory Management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Sales &amp; CRM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Purchase Management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HR &amp; Payroll (SARS-ready)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Manufacturing (BOM)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Industry Verticals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Healthcare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Construction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Logistics &amp; Fleet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Agriculture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Mining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✅ Property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Technology Stack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Backend: Node.js + TypeScript  |  Frontend: React + Vite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Database: PostgreSQL  |  AI: xAI Grok  |  Hosting: Vultr (Johannesburg)</a:t>
            </a:r>
          </a:p>
          <a:p>
            <a:pPr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Email: Resend  |  SMS: Twilio  |  Video: Daily.co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486400"/>
            <a:ext cx="3657600" cy="548640"/>
          </a:xfrm>
          <a:prstGeom prst="round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🚀 LIVE NOW: siyabusaerp.co.za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3882F6"/>
                </a:solidFill>
              </a:defRPr>
            </a:pPr>
            <a:r>
              <a:t>R30,000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for 3 Months → First Customer by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🖥️  Infrastructure (Vultr)                        R6,000    20%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Courier New"/>
              </a:defRPr>
            </a:pPr>
            <a:r>
              <a:t>💻  Development (GitHub)                           R2,050    7%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Courier New"/>
              </a:defRPr>
            </a:pPr>
            <a:r>
              <a:t>📧  Communications (Resend + Twilio)               R2,550    8.5%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Courier New"/>
              </a:defRPr>
            </a:pPr>
            <a:r>
              <a:t>🤖  AI Services (xAI Grok)                         R2,400    8%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Courier New"/>
              </a:defRPr>
            </a:pPr>
            <a:r>
              <a:t>📢  Marketing (LinkedIn + Google)                 R10,500    35%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  <a:latin typeface="Courier New"/>
              </a:defRPr>
            </a:pPr>
            <a:r>
              <a:t>🚗  Operations                                     R6,500    21.5%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</a:t>
            </a:r>
          </a:p>
          <a:p>
            <a:pPr>
              <a:defRPr sz="1400" b="1">
                <a:solidFill>
                  <a:srgbClr val="1A365D"/>
                </a:solidFill>
                <a:latin typeface="Courier New"/>
              </a:defRPr>
            </a:pPr>
            <a:r>
              <a:t>TOTAL                                            R30,000    100%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3-Month Journey to Revenue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32004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82F6"/>
                </a:solidFill>
              </a:defRPr>
            </a:pPr>
            <a:r>
              <a:t>FEBRUARY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Marketing campaigns go live</a:t>
            </a:r>
            <a:br/>
            <a:r>
              <a:t>First demos scheduled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32004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8A169"/>
                </a:solidFill>
              </a:defRPr>
            </a:pPr>
            <a:r>
              <a:t>MARCH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🎉 First Customer!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Sign first paying client</a:t>
            </a:r>
            <a:br/>
            <a:r>
              <a:t>R1,500+ MRR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2743200" cy="32004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D8A36"/>
                </a:solidFill>
              </a:defRPr>
            </a:pPr>
            <a:r>
              <a:t>APRIL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4320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Second customer</a:t>
            </a:r>
            <a:br/>
            <a:r>
              <a:t>Pipeline growing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Target: R15,000 MRR by August 2026  |  Break-even: 7-10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Why This is Low Risk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43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Product is DONE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Not a prototype. 25 modules, 400+ APIs, live in production.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57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Infrastructure is CHEAP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Vultr costs 70% less than AWS. R2,000/month total.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Market is READY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95,000 SMEs need affordable ERP. Post-COVID digitization.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86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Amount is SMALL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R30,000 for 3 months. Low risk, high potential.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Timeline is SHORT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60 days to first revenue. Quick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Simple, Profitable Pricing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27432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82F6"/>
                </a:solidFill>
              </a:defRPr>
            </a:pPr>
            <a:r>
              <a:t>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R1,500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Up to 5 users</a:t>
            </a:r>
          </a:p>
          <a:p>
            <a:pPr algn="ctr">
              <a:defRPr sz="1200">
                <a:solidFill>
                  <a:srgbClr val="999999"/>
                </a:solidFill>
              </a:defRPr>
            </a:pPr>
            <a:r>
              <a:t>Small businesses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27432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A169"/>
                </a:solidFill>
              </a:defRPr>
            </a:pPr>
            <a:r>
              <a:t>Professional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R3,500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Up to 15 users</a:t>
            </a:r>
          </a:p>
          <a:p>
            <a:pPr algn="ctr">
              <a:defRPr sz="1200">
                <a:solidFill>
                  <a:srgbClr val="999999"/>
                </a:solidFill>
              </a:defRPr>
            </a:pPr>
            <a:r>
              <a:t>Growing companies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2743200" cy="2743200"/>
          </a:xfrm>
          <a:prstGeom prst="roundRect">
            <a:avLst/>
          </a:prstGeom>
          <a:solidFill>
            <a:srgbClr val="2D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D8A36"/>
                </a:solidFill>
              </a:defRPr>
            </a:pPr>
            <a:r>
              <a:t>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R7,500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/month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CCCCC"/>
                </a:solidFill>
              </a:defRPr>
            </a:pPr>
            <a:r>
              <a:t>Unlimited users</a:t>
            </a:r>
          </a:p>
          <a:p>
            <a:pPr algn="ctr">
              <a:defRPr sz="1200">
                <a:solidFill>
                  <a:srgbClr val="999999"/>
                </a:solidFill>
              </a:defRPr>
            </a:pPr>
            <a:r>
              <a:t>Large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99999"/>
                </a:solidFill>
              </a:defRPr>
            </a:pPr>
            <a:r>
              <a:t>Compare to SAP: R50,000+/month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38A169"/>
                </a:solidFill>
              </a:defRPr>
            </a:pPr>
            <a:r>
              <a:t>We're 90% cheaper with the same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Infrastructure: Vultr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Why Vultr over AWS?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✅ Johannesburg datacenter = Fast for SA users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✅ 70% cheaper than AWS for same specs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✅ No hidden data transfer fees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✅ Simple pricing, easy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Server Configuration (R2,000/month)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Main Production: 8GB / 4vCPU — SiyaBusa ERP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Database: 4GB / 2vCPU — PostgreSQL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Additional Apps: 4GB / 2vCPU — Future projects</a:t>
            </a:r>
          </a:p>
          <a:p>
            <a:pPr>
              <a:spcBef>
                <a:spcPts val="600"/>
              </a:spcBef>
              <a:defRPr sz="1400">
                <a:solidFill>
                  <a:srgbClr val="333333"/>
                </a:solidFill>
              </a:defRPr>
            </a:pPr>
            <a:r>
              <a:t>• Backup/Staging: 2GB / 1vCPU — DR +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Build Something Great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882F6"/>
                </a:solidFill>
              </a:defRPr>
            </a:pPr>
            <a:r>
              <a:t>R30,000 → First Customer →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1️⃣  See it live — 30-minute demo at siyabusaerp.co.za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2️⃣  Review the numbers — Detailed budget attached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3️⃣  Fund — R30,000 seed investment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4️⃣  Celebrate — First client in March! 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365D"/>
                </a:solidFill>
              </a:defRPr>
            </a:pPr>
            <a:r>
              <a:t>SiyaBusa ERP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882F6"/>
                </a:solidFill>
              </a:defRPr>
            </a:pPr>
            <a:r>
              <a:t>Enterprise Power. SME Pricing.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33333"/>
                </a:solidFill>
              </a:defRPr>
            </a:pPr>
            <a:r>
              <a:t>Sibusiso Buncele</a:t>
            </a:r>
          </a:p>
          <a:p>
            <a:pPr algn="ctr">
              <a:spcBef>
                <a:spcPts val="400"/>
              </a:spcBef>
              <a:defRPr sz="1800">
                <a:solidFill>
                  <a:srgbClr val="333333"/>
                </a:solidFill>
              </a:defRPr>
            </a:pPr>
            <a:r>
              <a:t>Founder &amp; CEO</a:t>
            </a:r>
          </a:p>
          <a:p>
            <a:pPr algn="ctr">
              <a:spcBef>
                <a:spcPts val="1600"/>
              </a:spcBef>
              <a:defRPr sz="1600">
                <a:solidFill>
                  <a:srgbClr val="666666"/>
                </a:solidFill>
              </a:defRPr>
            </a:pPr>
            <a:r>
              <a:t>Masaphokati Technologies (Pty) Ltd</a:t>
            </a:r>
          </a:p>
          <a:p>
            <a:pPr algn="ctr">
              <a:spcBef>
                <a:spcPts val="1600"/>
              </a:spcBef>
              <a:defRPr sz="1800">
                <a:solidFill>
                  <a:srgbClr val="3882F6"/>
                </a:solidFill>
              </a:defRPr>
            </a:pPr>
            <a:r>
              <a:t>🌐 siyabusaerp.co.za</a:t>
            </a:r>
          </a:p>
          <a:p>
            <a:pPr algn="ctr"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📧 info@masaphokati.co.za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Confidential |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